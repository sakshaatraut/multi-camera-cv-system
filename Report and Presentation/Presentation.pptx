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00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AF0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E8EAF0"/>
                </a:solidFill>
                <a:latin typeface="Calibri"/>
              </a:rPr>
              <a:t>Throughput  -  Overall FPS @ 8 cameras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FPS</c:v>
                </c:pt>
              </c:strCache>
            </c:strRef>
          </c:tx>
          <c:spPr>
            <a:solidFill>
              <a:srgbClr val="76B9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435-4400-923D-40DA9167B1C3}"/>
              </c:ext>
            </c:extLst>
          </c:dPt>
          <c:dPt>
            <c:idx val="1"/>
            <c:invertIfNegative val="0"/>
            <c:bubble3D val="0"/>
            <c:spPr>
              <a:solidFill>
                <a:srgbClr val="0A84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435-4400-923D-40DA9167B1C3}"/>
              </c:ext>
            </c:extLst>
          </c:dPt>
          <c:dPt>
            <c:idx val="2"/>
            <c:invertIfNegative val="0"/>
            <c:bubble3D val="0"/>
            <c:spPr>
              <a:solidFill>
                <a:srgbClr val="0A84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435-4400-923D-40DA9167B1C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435-4400-923D-40DA9167B1C3}"/>
              </c:ext>
            </c:extLst>
          </c:dPt>
          <c:dPt>
            <c:idx val="4"/>
            <c:invertIfNegative val="0"/>
            <c:bubble3D val="0"/>
            <c:spPr>
              <a:solidFill>
                <a:srgbClr val="0A84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435-4400-923D-40DA9167B1C3}"/>
              </c:ext>
            </c:extLst>
          </c:dPt>
          <c:dPt>
            <c:idx val="5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435-4400-923D-40DA9167B1C3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E8EAF0"/>
                    </a:solidFill>
                    <a:latin typeface="Consola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RTX 5060</c:v>
                </c:pt>
                <c:pt idx="1">
                  <c:v>M4 Pro</c:v>
                </c:pt>
                <c:pt idx="2">
                  <c:v>M5 Pro</c:v>
                </c:pt>
                <c:pt idx="3">
                  <c:v>RTX 4050</c:v>
                </c:pt>
                <c:pt idx="4">
                  <c:v>M3 Pro</c:v>
                </c:pt>
                <c:pt idx="5">
                  <c:v>M4 Air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129.97</c:v>
                </c:pt>
                <c:pt idx="1">
                  <c:v>124.03</c:v>
                </c:pt>
                <c:pt idx="2">
                  <c:v>120.1</c:v>
                </c:pt>
                <c:pt idx="3">
                  <c:v>111.7</c:v>
                </c:pt>
                <c:pt idx="4">
                  <c:v>90.11</c:v>
                </c:pt>
                <c:pt idx="5">
                  <c:v>45.78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435-4400-923D-40DA9167B1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2A8"/>
                </a:solidFill>
                <a:latin typeface="Calibri Ligh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1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2A8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92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4192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AF0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E8EAF0"/>
                </a:solidFill>
                <a:latin typeface="Calibri"/>
              </a:rPr>
              <a:t>Latency  -  Avg per-frame (ms, 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latency (ms)</c:v>
                </c:pt>
              </c:strCache>
            </c:strRef>
          </c:tx>
          <c:spPr>
            <a:solidFill>
              <a:srgbClr val="76B9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507-4988-AD5A-7E2BFF05803D}"/>
              </c:ext>
            </c:extLst>
          </c:dPt>
          <c:dPt>
            <c:idx val="1"/>
            <c:invertIfNegative val="0"/>
            <c:bubble3D val="0"/>
            <c:spPr>
              <a:solidFill>
                <a:srgbClr val="0A84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507-4988-AD5A-7E2BFF05803D}"/>
              </c:ext>
            </c:extLst>
          </c:dPt>
          <c:dPt>
            <c:idx val="2"/>
            <c:invertIfNegative val="0"/>
            <c:bubble3D val="0"/>
            <c:spPr>
              <a:solidFill>
                <a:srgbClr val="0A84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507-4988-AD5A-7E2BFF05803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507-4988-AD5A-7E2BFF05803D}"/>
              </c:ext>
            </c:extLst>
          </c:dPt>
          <c:dPt>
            <c:idx val="4"/>
            <c:invertIfNegative val="0"/>
            <c:bubble3D val="0"/>
            <c:spPr>
              <a:solidFill>
                <a:srgbClr val="0A84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507-4988-AD5A-7E2BFF05803D}"/>
              </c:ext>
            </c:extLst>
          </c:dPt>
          <c:dPt>
            <c:idx val="5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507-4988-AD5A-7E2BFF05803D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E8EAF0"/>
                    </a:solidFill>
                    <a:latin typeface="Consola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RTX 5060</c:v>
                </c:pt>
                <c:pt idx="1">
                  <c:v>M4 Pro</c:v>
                </c:pt>
                <c:pt idx="2">
                  <c:v>M5 Pro</c:v>
                </c:pt>
                <c:pt idx="3">
                  <c:v>RTX 4050</c:v>
                </c:pt>
                <c:pt idx="4">
                  <c:v>M3 Pro</c:v>
                </c:pt>
                <c:pt idx="5">
                  <c:v>M4 Air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27.28</c:v>
                </c:pt>
                <c:pt idx="1">
                  <c:v>329.45</c:v>
                </c:pt>
                <c:pt idx="2">
                  <c:v>325.94</c:v>
                </c:pt>
                <c:pt idx="3">
                  <c:v>39.159999999999997</c:v>
                </c:pt>
                <c:pt idx="4">
                  <c:v>427.53</c:v>
                </c:pt>
                <c:pt idx="5">
                  <c:v>854.51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507-4988-AD5A-7E2BFF0580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2A8"/>
                </a:solidFill>
                <a:latin typeface="Calibri Ligh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1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2A8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92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4192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AF0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E8EAF0"/>
                </a:solidFill>
                <a:latin typeface="Calibri"/>
              </a:rPr>
              <a:t>FPS @ 4 cameras  -  same code, swap device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GPU / MPS</c:v>
                </c:pt>
              </c:strCache>
            </c:strRef>
          </c:tx>
          <c:spPr>
            <a:solidFill>
              <a:srgbClr val="76B900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E8EAF0"/>
                    </a:solidFill>
                    <a:latin typeface="Consola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RTX 5060</c:v>
                </c:pt>
                <c:pt idx="1">
                  <c:v>RTX 4050</c:v>
                </c:pt>
                <c:pt idx="2">
                  <c:v>M5 Pro</c:v>
                </c:pt>
                <c:pt idx="3">
                  <c:v>M4 Pro</c:v>
                </c:pt>
                <c:pt idx="4">
                  <c:v>M3 Pro</c:v>
                </c:pt>
                <c:pt idx="5">
                  <c:v>M4 Air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67.7</c:v>
                </c:pt>
                <c:pt idx="1">
                  <c:v>64.53</c:v>
                </c:pt>
                <c:pt idx="2">
                  <c:v>75.11</c:v>
                </c:pt>
                <c:pt idx="3">
                  <c:v>84.33</c:v>
                </c:pt>
                <c:pt idx="4">
                  <c:v>71.88</c:v>
                </c:pt>
                <c:pt idx="5">
                  <c:v>46.67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A8-4FE1-9343-8460C6699C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CPU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E8EAF0"/>
                    </a:solidFill>
                    <a:latin typeface="Consola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RTX 5060</c:v>
                </c:pt>
                <c:pt idx="1">
                  <c:v>RTX 4050</c:v>
                </c:pt>
                <c:pt idx="2">
                  <c:v>M5 Pro</c:v>
                </c:pt>
                <c:pt idx="3">
                  <c:v>M4 Pro</c:v>
                </c:pt>
                <c:pt idx="4">
                  <c:v>M3 Pro</c:v>
                </c:pt>
                <c:pt idx="5">
                  <c:v>M4 Air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33.049999999999997</c:v>
                </c:pt>
                <c:pt idx="1">
                  <c:v>17.93</c:v>
                </c:pt>
                <c:pt idx="2">
                  <c:v>30.69</c:v>
                </c:pt>
                <c:pt idx="3">
                  <c:v>42.43</c:v>
                </c:pt>
                <c:pt idx="4">
                  <c:v>30.5</c:v>
                </c:pt>
                <c:pt idx="5">
                  <c:v>15.9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A8-4FE1-9343-8460C6699C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2A8"/>
                </a:solidFill>
                <a:latin typeface="Calibri Ligh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1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2A8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925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8B92A8"/>
              </a:solidFill>
              <a:latin typeface="Calibri Light"/>
              <a:cs typeface="Calibri Light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4192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AF0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E8EAF0"/>
                </a:solidFill>
                <a:latin typeface="Calibri"/>
              </a:rPr>
              <a:t>FPS vs. batch size  -  yolov8n  -  4 cameras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RTX 5060</c:v>
                </c:pt>
              </c:strCache>
            </c:strRef>
          </c:tx>
          <c:spPr>
            <a:ln w="38100" cap="flat">
              <a:solidFill>
                <a:srgbClr val="76B900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76B900"/>
              </a:solidFill>
              <a:ln w="9525" cap="flat">
                <a:solidFill>
                  <a:srgbClr val="76B90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66.41</c:v>
                </c:pt>
                <c:pt idx="1">
                  <c:v>66</c:v>
                </c:pt>
                <c:pt idx="2">
                  <c:v>65.25</c:v>
                </c:pt>
                <c:pt idx="3">
                  <c:v>65.78</c:v>
                </c:pt>
                <c:pt idx="4">
                  <c:v>65.84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E2-4CDF-A399-045ACBCBAE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RTX 4050</c:v>
                </c:pt>
              </c:strCache>
            </c:strRef>
          </c:tx>
          <c:spPr>
            <a:ln w="38100" cap="flat">
              <a:solidFill>
                <a:srgbClr val="9ACD32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9ACD32"/>
              </a:solidFill>
              <a:ln w="9525" cap="flat">
                <a:solidFill>
                  <a:srgbClr val="9ACD3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54.65</c:v>
                </c:pt>
                <c:pt idx="1">
                  <c:v>57.37</c:v>
                </c:pt>
                <c:pt idx="2">
                  <c:v>57.63</c:v>
                </c:pt>
                <c:pt idx="3">
                  <c:v>54.48</c:v>
                </c:pt>
                <c:pt idx="4">
                  <c:v>54.55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E2-4CDF-A399-045ACBCBAE6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M5 Pro</c:v>
                </c:pt>
              </c:strCache>
            </c:strRef>
          </c:tx>
          <c:spPr>
            <a:ln w="38100" cap="flat">
              <a:solidFill>
                <a:srgbClr val="0A84FF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A84FF"/>
              </a:solidFill>
              <a:ln w="9525" cap="flat">
                <a:solidFill>
                  <a:srgbClr val="0A84F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75.27</c:v>
                </c:pt>
                <c:pt idx="1">
                  <c:v>75.42</c:v>
                </c:pt>
                <c:pt idx="2">
                  <c:v>75.34</c:v>
                </c:pt>
                <c:pt idx="3">
                  <c:v>75.44</c:v>
                </c:pt>
                <c:pt idx="4">
                  <c:v>75.540000000000006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2E2-4CDF-A399-045ACBCBAE6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M4 Pro</c:v>
                </c:pt>
              </c:strCache>
            </c:strRef>
          </c:tx>
          <c:spPr>
            <a:ln w="38100" cap="flat">
              <a:solidFill>
                <a:srgbClr val="5AC8FA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5AC8FA"/>
              </a:solidFill>
              <a:ln w="9525" cap="flat">
                <a:solidFill>
                  <a:srgbClr val="5AC8FA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73.77</c:v>
                </c:pt>
                <c:pt idx="1">
                  <c:v>70.09</c:v>
                </c:pt>
                <c:pt idx="2">
                  <c:v>73.89</c:v>
                </c:pt>
                <c:pt idx="3">
                  <c:v>73.84</c:v>
                </c:pt>
                <c:pt idx="4">
                  <c:v>73.83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2E2-4CDF-A399-045ACBCBAE6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M3 Pro</c:v>
                </c:pt>
              </c:strCache>
            </c:strRef>
          </c:tx>
          <c:spPr>
            <a:ln w="38100" cap="flat">
              <a:solidFill>
                <a:srgbClr val="C77DFF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C77DFF"/>
              </a:solidFill>
              <a:ln w="9525" cap="flat">
                <a:solidFill>
                  <a:srgbClr val="C77DF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72.400000000000006</c:v>
                </c:pt>
                <c:pt idx="1">
                  <c:v>68.77</c:v>
                </c:pt>
                <c:pt idx="2">
                  <c:v>68.87</c:v>
                </c:pt>
                <c:pt idx="3">
                  <c:v>68.61</c:v>
                </c:pt>
                <c:pt idx="4">
                  <c:v>72.22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2E2-4CDF-A399-045ACBCBAE6F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M4 Air</c:v>
                </c:pt>
              </c:strCache>
            </c:strRef>
          </c:tx>
          <c:spPr>
            <a:ln w="38100" cap="flat">
              <a:solidFill>
                <a:srgbClr val="FF6B35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35.86</c:v>
                </c:pt>
                <c:pt idx="1">
                  <c:v>42.15</c:v>
                </c:pt>
                <c:pt idx="2">
                  <c:v>47.46</c:v>
                </c:pt>
                <c:pt idx="3">
                  <c:v>54.42</c:v>
                </c:pt>
                <c:pt idx="4">
                  <c:v>55.35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2E2-4CDF-A399-045ACBCBAE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B92A8"/>
                    </a:solidFill>
                    <a:latin typeface="Calibri Light"/>
                  </a:defRPr>
                </a:pPr>
                <a:r>
                  <a:rPr lang="en-IN" sz="1000" b="0" i="0" u="none" strike="noStrike">
                    <a:solidFill>
                      <a:srgbClr val="8B92A8"/>
                    </a:solidFill>
                    <a:latin typeface="Calibri Light"/>
                  </a:rPr>
                  <a:t>batch size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2A8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14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B92A8"/>
                    </a:solidFill>
                    <a:latin typeface="Calibri Light"/>
                  </a:defRPr>
                </a:pPr>
                <a:r>
                  <a:rPr lang="en-IN" sz="1000" b="0" i="0" u="none" strike="noStrike">
                    <a:solidFill>
                      <a:srgbClr val="8B92A8"/>
                    </a:solidFill>
                    <a:latin typeface="Calibri Light"/>
                  </a:rPr>
                  <a:t>FPS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2A8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92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B92A8"/>
              </a:solidFill>
              <a:latin typeface="Calibri Light"/>
              <a:cs typeface="Calibri Light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4192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AF0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E8EAF0"/>
                </a:solidFill>
                <a:latin typeface="Calibri"/>
              </a:rPr>
              <a:t>FPS vs. # of camera streams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RTX 5060</c:v>
                </c:pt>
              </c:strCache>
            </c:strRef>
          </c:tx>
          <c:spPr>
            <a:ln w="38100" cap="flat">
              <a:solidFill>
                <a:srgbClr val="76B900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76B900"/>
              </a:solidFill>
              <a:ln w="9525" cap="flat">
                <a:solidFill>
                  <a:srgbClr val="76B900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21.02</c:v>
                </c:pt>
                <c:pt idx="1">
                  <c:v>33.64</c:v>
                </c:pt>
                <c:pt idx="2">
                  <c:v>67.709999999999994</c:v>
                </c:pt>
                <c:pt idx="3">
                  <c:v>131.66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375-4E63-828A-5BA305D8B0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RTX 4050</c:v>
                </c:pt>
              </c:strCache>
            </c:strRef>
          </c:tx>
          <c:spPr>
            <a:ln w="38100" cap="flat">
              <a:solidFill>
                <a:srgbClr val="9ACD32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9ACD32"/>
              </a:solidFill>
              <a:ln w="9525" cap="flat">
                <a:solidFill>
                  <a:srgbClr val="9ACD32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17.73</c:v>
                </c:pt>
                <c:pt idx="1">
                  <c:v>28.19</c:v>
                </c:pt>
                <c:pt idx="2">
                  <c:v>62.49</c:v>
                </c:pt>
                <c:pt idx="3">
                  <c:v>114.81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375-4E63-828A-5BA305D8B0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M5 Pro</c:v>
                </c:pt>
              </c:strCache>
            </c:strRef>
          </c:tx>
          <c:spPr>
            <a:ln w="38100" cap="flat">
              <a:solidFill>
                <a:srgbClr val="0A84FF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A84FF"/>
              </a:solidFill>
              <a:ln w="9525" cap="flat">
                <a:solidFill>
                  <a:srgbClr val="0A84FF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26.35</c:v>
                </c:pt>
                <c:pt idx="1">
                  <c:v>36.659999999999997</c:v>
                </c:pt>
                <c:pt idx="2">
                  <c:v>79.55</c:v>
                </c:pt>
                <c:pt idx="3">
                  <c:v>133.99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375-4E63-828A-5BA305D8B02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M4 Pro</c:v>
                </c:pt>
              </c:strCache>
            </c:strRef>
          </c:tx>
          <c:spPr>
            <a:ln w="38100" cap="flat">
              <a:solidFill>
                <a:srgbClr val="5AC8FA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5AC8FA"/>
              </a:solidFill>
              <a:ln w="9525" cap="flat">
                <a:solidFill>
                  <a:srgbClr val="5AC8FA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26.1</c:v>
                </c:pt>
                <c:pt idx="1">
                  <c:v>39.07</c:v>
                </c:pt>
                <c:pt idx="2">
                  <c:v>84.46</c:v>
                </c:pt>
                <c:pt idx="3">
                  <c:v>125.2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375-4E63-828A-5BA305D8B02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M3 Pro</c:v>
                </c:pt>
              </c:strCache>
            </c:strRef>
          </c:tx>
          <c:spPr>
            <a:ln w="38100" cap="flat">
              <a:solidFill>
                <a:srgbClr val="C77DFF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C77DFF"/>
              </a:solidFill>
              <a:ln w="9525" cap="flat">
                <a:solidFill>
                  <a:srgbClr val="C77DFF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25.8</c:v>
                </c:pt>
                <c:pt idx="1">
                  <c:v>38.520000000000003</c:v>
                </c:pt>
                <c:pt idx="2">
                  <c:v>76.37</c:v>
                </c:pt>
                <c:pt idx="3">
                  <c:v>97.61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375-4E63-828A-5BA305D8B02F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M4 Air</c:v>
                </c:pt>
              </c:strCache>
            </c:strRef>
          </c:tx>
          <c:spPr>
            <a:ln w="38100" cap="flat">
              <a:solidFill>
                <a:srgbClr val="FF6B35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25.78</c:v>
                </c:pt>
                <c:pt idx="1">
                  <c:v>32.4</c:v>
                </c:pt>
                <c:pt idx="2">
                  <c:v>47.12</c:v>
                </c:pt>
                <c:pt idx="3">
                  <c:v>47.6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375-4E63-828A-5BA305D8B0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B92A8"/>
                    </a:solidFill>
                    <a:latin typeface="Calibri Light"/>
                  </a:defRPr>
                </a:pPr>
                <a:r>
                  <a:rPr lang="en-IN" sz="1000" b="0" i="0" u="none" strike="noStrike">
                    <a:solidFill>
                      <a:srgbClr val="8B92A8"/>
                    </a:solidFill>
                    <a:latin typeface="Calibri Light"/>
                  </a:rPr>
                  <a:t>concurrent streams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2A8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14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B92A8"/>
                    </a:solidFill>
                    <a:latin typeface="Calibri Light"/>
                  </a:defRPr>
                </a:pPr>
                <a:r>
                  <a:rPr lang="en-IN" sz="1000" b="0" i="0" u="none" strike="noStrike">
                    <a:solidFill>
                      <a:srgbClr val="8B92A8"/>
                    </a:solidFill>
                    <a:latin typeface="Calibri Light"/>
                  </a:rPr>
                  <a:t>FPS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2A8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92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B92A8"/>
              </a:solidFill>
              <a:latin typeface="Calibri Light"/>
              <a:cs typeface="Calibri Light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41925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AF0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E8EAF0"/>
                </a:solidFill>
                <a:latin typeface="Calibri"/>
              </a:rPr>
              <a:t>FPS vs. YOLOv8 model size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RTX 5060</c:v>
                </c:pt>
              </c:strCache>
            </c:strRef>
          </c:tx>
          <c:spPr>
            <a:solidFill>
              <a:srgbClr val="76B90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 (3M)</c:v>
                </c:pt>
                <c:pt idx="1">
                  <c:v>s (11M)</c:v>
                </c:pt>
                <c:pt idx="2">
                  <c:v>m (26M)</c:v>
                </c:pt>
                <c:pt idx="3">
                  <c:v>l (44M)</c:v>
                </c:pt>
                <c:pt idx="4">
                  <c:v>x (68M)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65.02</c:v>
                </c:pt>
                <c:pt idx="1">
                  <c:v>64.84</c:v>
                </c:pt>
                <c:pt idx="2">
                  <c:v>67.27</c:v>
                </c:pt>
                <c:pt idx="3">
                  <c:v>43.39</c:v>
                </c:pt>
                <c:pt idx="4">
                  <c:v>27.29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AF-45A4-93FE-19870455BD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RTX 4050</c:v>
                </c:pt>
              </c:strCache>
            </c:strRef>
          </c:tx>
          <c:spPr>
            <a:solidFill>
              <a:srgbClr val="9ACD32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 (3M)</c:v>
                </c:pt>
                <c:pt idx="1">
                  <c:v>s (11M)</c:v>
                </c:pt>
                <c:pt idx="2">
                  <c:v>m (26M)</c:v>
                </c:pt>
                <c:pt idx="3">
                  <c:v>l (44M)</c:v>
                </c:pt>
                <c:pt idx="4">
                  <c:v>x (68M)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57.57</c:v>
                </c:pt>
                <c:pt idx="1">
                  <c:v>59.78</c:v>
                </c:pt>
                <c:pt idx="2">
                  <c:v>40.92</c:v>
                </c:pt>
                <c:pt idx="3">
                  <c:v>25.89</c:v>
                </c:pt>
                <c:pt idx="4">
                  <c:v>21.52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AF-45A4-93FE-19870455BDD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M5 Pro</c:v>
                </c:pt>
              </c:strCache>
            </c:strRef>
          </c:tx>
          <c:spPr>
            <a:solidFill>
              <a:srgbClr val="0A84F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 (3M)</c:v>
                </c:pt>
                <c:pt idx="1">
                  <c:v>s (11M)</c:v>
                </c:pt>
                <c:pt idx="2">
                  <c:v>m (26M)</c:v>
                </c:pt>
                <c:pt idx="3">
                  <c:v>l (44M)</c:v>
                </c:pt>
                <c:pt idx="4">
                  <c:v>x (68M)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79.42</c:v>
                </c:pt>
                <c:pt idx="1">
                  <c:v>72.94</c:v>
                </c:pt>
                <c:pt idx="2">
                  <c:v>40.35</c:v>
                </c:pt>
                <c:pt idx="3">
                  <c:v>25.16</c:v>
                </c:pt>
                <c:pt idx="4">
                  <c:v>18.149999999999999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AF-45A4-93FE-19870455BDD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M4 Pro</c:v>
                </c:pt>
              </c:strCache>
            </c:strRef>
          </c:tx>
          <c:spPr>
            <a:solidFill>
              <a:srgbClr val="5AC8F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 (3M)</c:v>
                </c:pt>
                <c:pt idx="1">
                  <c:v>s (11M)</c:v>
                </c:pt>
                <c:pt idx="2">
                  <c:v>m (26M)</c:v>
                </c:pt>
                <c:pt idx="3">
                  <c:v>l (44M)</c:v>
                </c:pt>
                <c:pt idx="4">
                  <c:v>x (68M)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73.849999999999994</c:v>
                </c:pt>
                <c:pt idx="1">
                  <c:v>68.180000000000007</c:v>
                </c:pt>
                <c:pt idx="2">
                  <c:v>34.53</c:v>
                </c:pt>
                <c:pt idx="3">
                  <c:v>21.99</c:v>
                </c:pt>
                <c:pt idx="4">
                  <c:v>18.87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9AF-45A4-93FE-19870455BDD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M3 Pro</c:v>
                </c:pt>
              </c:strCache>
            </c:strRef>
          </c:tx>
          <c:spPr>
            <a:solidFill>
              <a:srgbClr val="C77DF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 (3M)</c:v>
                </c:pt>
                <c:pt idx="1">
                  <c:v>s (11M)</c:v>
                </c:pt>
                <c:pt idx="2">
                  <c:v>m (26M)</c:v>
                </c:pt>
                <c:pt idx="3">
                  <c:v>l (44M)</c:v>
                </c:pt>
                <c:pt idx="4">
                  <c:v>x (68M)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70.42</c:v>
                </c:pt>
                <c:pt idx="1">
                  <c:v>56.46</c:v>
                </c:pt>
                <c:pt idx="2">
                  <c:v>30.4</c:v>
                </c:pt>
                <c:pt idx="3">
                  <c:v>18.59</c:v>
                </c:pt>
                <c:pt idx="4">
                  <c:v>12.69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9AF-45A4-93FE-19870455BDDB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M4 Air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 (3M)</c:v>
                </c:pt>
                <c:pt idx="1">
                  <c:v>s (11M)</c:v>
                </c:pt>
                <c:pt idx="2">
                  <c:v>m (26M)</c:v>
                </c:pt>
                <c:pt idx="3">
                  <c:v>l (44M)</c:v>
                </c:pt>
                <c:pt idx="4">
                  <c:v>x (68M)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47.38</c:v>
                </c:pt>
                <c:pt idx="1">
                  <c:v>26.06</c:v>
                </c:pt>
                <c:pt idx="2">
                  <c:v>13.83</c:v>
                </c:pt>
                <c:pt idx="3">
                  <c:v>11.78</c:v>
                </c:pt>
                <c:pt idx="4">
                  <c:v>8.92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9AF-45A4-93FE-19870455BD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2A8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1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2A8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92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B92A8"/>
              </a:solidFill>
              <a:latin typeface="Calibri Light"/>
              <a:cs typeface="Calibri Light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41925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AF0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E8EAF0"/>
                </a:solidFill>
                <a:latin typeface="Calibri"/>
              </a:rPr>
              <a:t>FPS by inference backend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RTX 5060</c:v>
                </c:pt>
              </c:strCache>
            </c:strRef>
          </c:tx>
          <c:spPr>
            <a:solidFill>
              <a:srgbClr val="76B90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PyTorch FP32</c:v>
                </c:pt>
                <c:pt idx="1">
                  <c:v>PyTorch FP16</c:v>
                </c:pt>
                <c:pt idx="2">
                  <c:v>ONNX Runtime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64.22</c:v>
                </c:pt>
                <c:pt idx="1">
                  <c:v>64.28</c:v>
                </c:pt>
                <c:pt idx="2">
                  <c:v>12.32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E1-4DAF-9B2D-E634C6E71F1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RTX 4050</c:v>
                </c:pt>
              </c:strCache>
            </c:strRef>
          </c:tx>
          <c:spPr>
            <a:solidFill>
              <a:srgbClr val="9ACD32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PyTorch FP32</c:v>
                </c:pt>
                <c:pt idx="1">
                  <c:v>PyTorch FP16</c:v>
                </c:pt>
                <c:pt idx="2">
                  <c:v>ONNX Runtime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56.97</c:v>
                </c:pt>
                <c:pt idx="1">
                  <c:v>57.68</c:v>
                </c:pt>
                <c:pt idx="2">
                  <c:v>12.1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E1-4DAF-9B2D-E634C6E71F1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M5 Pro</c:v>
                </c:pt>
              </c:strCache>
            </c:strRef>
          </c:tx>
          <c:spPr>
            <a:solidFill>
              <a:srgbClr val="0A84F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PyTorch FP32</c:v>
                </c:pt>
                <c:pt idx="1">
                  <c:v>PyTorch FP16</c:v>
                </c:pt>
                <c:pt idx="2">
                  <c:v>ONNX Runtime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79.27</c:v>
                </c:pt>
                <c:pt idx="1">
                  <c:v>71.63</c:v>
                </c:pt>
                <c:pt idx="2">
                  <c:v>23.9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9E1-4DAF-9B2D-E634C6E71F1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M4 Pro</c:v>
                </c:pt>
              </c:strCache>
            </c:strRef>
          </c:tx>
          <c:spPr>
            <a:solidFill>
              <a:srgbClr val="5AC8F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PyTorch FP32</c:v>
                </c:pt>
                <c:pt idx="1">
                  <c:v>PyTorch FP16</c:v>
                </c:pt>
                <c:pt idx="2">
                  <c:v>ONNX Runtime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77.7</c:v>
                </c:pt>
                <c:pt idx="1">
                  <c:v>77.709999999999994</c:v>
                </c:pt>
                <c:pt idx="2">
                  <c:v>27.71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9E1-4DAF-9B2D-E634C6E71F1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M3 Pro</c:v>
                </c:pt>
              </c:strCache>
            </c:strRef>
          </c:tx>
          <c:spPr>
            <a:solidFill>
              <a:srgbClr val="C77DF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PyTorch FP32</c:v>
                </c:pt>
                <c:pt idx="1">
                  <c:v>PyTorch FP16</c:v>
                </c:pt>
                <c:pt idx="2">
                  <c:v>ONNX Runtime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70.66</c:v>
                </c:pt>
                <c:pt idx="1">
                  <c:v>74.349999999999994</c:v>
                </c:pt>
                <c:pt idx="2">
                  <c:v>24.62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E1-4DAF-9B2D-E634C6E71F1B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M4 Air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PyTorch FP32</c:v>
                </c:pt>
                <c:pt idx="1">
                  <c:v>PyTorch FP16</c:v>
                </c:pt>
                <c:pt idx="2">
                  <c:v>ONNX Runtime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47.09</c:v>
                </c:pt>
                <c:pt idx="1">
                  <c:v>49.47</c:v>
                </c:pt>
                <c:pt idx="2">
                  <c:v>11.93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9E1-4DAF-9B2D-E634C6E71F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2A8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1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2A8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92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B92A8"/>
              </a:solidFill>
              <a:latin typeface="Calibri Light"/>
              <a:cs typeface="Calibri Light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41925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AF0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E8EAF0"/>
                </a:solidFill>
                <a:latin typeface="Calibri"/>
              </a:rPr>
              <a:t>FPS by preprocessing scenario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RTX 5060</c:v>
                </c:pt>
              </c:strCache>
            </c:strRef>
          </c:tx>
          <c:spPr>
            <a:solidFill>
              <a:srgbClr val="76B90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CPU preproc</c:v>
                </c:pt>
                <c:pt idx="1">
                  <c:v>GPU preproc</c:v>
                </c:pt>
                <c:pt idx="2">
                  <c:v>GPU preproc FP16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65.319999999999993</c:v>
                </c:pt>
                <c:pt idx="1">
                  <c:v>65.41</c:v>
                </c:pt>
                <c:pt idx="2">
                  <c:v>65.78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EE-4E78-8214-C7C2E81898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RTX 4050</c:v>
                </c:pt>
              </c:strCache>
            </c:strRef>
          </c:tx>
          <c:spPr>
            <a:solidFill>
              <a:srgbClr val="9ACD32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CPU preproc</c:v>
                </c:pt>
                <c:pt idx="1">
                  <c:v>GPU preproc</c:v>
                </c:pt>
                <c:pt idx="2">
                  <c:v>GPU preproc FP16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57.24</c:v>
                </c:pt>
                <c:pt idx="1">
                  <c:v>55.8</c:v>
                </c:pt>
                <c:pt idx="2">
                  <c:v>57.67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EE-4E78-8214-C7C2E81898A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M5 Pro</c:v>
                </c:pt>
              </c:strCache>
            </c:strRef>
          </c:tx>
          <c:spPr>
            <a:solidFill>
              <a:srgbClr val="0A84F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CPU preproc</c:v>
                </c:pt>
                <c:pt idx="1">
                  <c:v>GPU preproc</c:v>
                </c:pt>
                <c:pt idx="2">
                  <c:v>GPU preproc FP16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79.260000000000005</c:v>
                </c:pt>
                <c:pt idx="1">
                  <c:v>75.19</c:v>
                </c:pt>
                <c:pt idx="2">
                  <c:v>75.430000000000007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3EE-4E78-8214-C7C2E81898A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M4 Pro</c:v>
                </c:pt>
              </c:strCache>
            </c:strRef>
          </c:tx>
          <c:spPr>
            <a:solidFill>
              <a:srgbClr val="5AC8F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CPU preproc</c:v>
                </c:pt>
                <c:pt idx="1">
                  <c:v>GPU preproc</c:v>
                </c:pt>
                <c:pt idx="2">
                  <c:v>GPU preproc FP16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73.58</c:v>
                </c:pt>
                <c:pt idx="1">
                  <c:v>73.790000000000006</c:v>
                </c:pt>
                <c:pt idx="2">
                  <c:v>73.81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3EE-4E78-8214-C7C2E81898A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M3 Pro</c:v>
                </c:pt>
              </c:strCache>
            </c:strRef>
          </c:tx>
          <c:spPr>
            <a:solidFill>
              <a:srgbClr val="C77DF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CPU preproc</c:v>
                </c:pt>
                <c:pt idx="1">
                  <c:v>GPU preproc</c:v>
                </c:pt>
                <c:pt idx="2">
                  <c:v>GPU preproc FP16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70.489999999999995</c:v>
                </c:pt>
                <c:pt idx="1">
                  <c:v>67.25</c:v>
                </c:pt>
                <c:pt idx="2">
                  <c:v>74.12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3EE-4E78-8214-C7C2E81898A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M4 Air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CPU preproc</c:v>
                </c:pt>
                <c:pt idx="1">
                  <c:v>GPU preproc</c:v>
                </c:pt>
                <c:pt idx="2">
                  <c:v>GPU preproc FP16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49.26</c:v>
                </c:pt>
                <c:pt idx="1">
                  <c:v>45.02</c:v>
                </c:pt>
                <c:pt idx="2">
                  <c:v>45.88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3EE-4E78-8214-C7C2E81898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2A8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1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2A8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92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B92A8"/>
              </a:solidFill>
              <a:latin typeface="Calibri Light"/>
              <a:cs typeface="Calibri Light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4192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8081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5664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IN" sz="4000" b="1" dirty="0">
              <a:solidFill>
                <a:srgbClr val="E8EAF0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IN" sz="4000" b="1" dirty="0">
                <a:solidFill>
                  <a:srgbClr val="E8EAF0"/>
                </a:solidFill>
                <a:latin typeface="Calibri" pitchFamily="34" charset="0"/>
                <a:cs typeface="Calibri" pitchFamily="34" charset="-120"/>
              </a:rPr>
              <a:t>Real-Time Multi-Camera GPU-Accelerated</a:t>
            </a:r>
          </a:p>
          <a:p>
            <a:r>
              <a:rPr lang="en-IN" sz="4000" b="1" dirty="0">
                <a:solidFill>
                  <a:srgbClr val="E8EAF0"/>
                </a:solidFill>
                <a:latin typeface="Calibri" pitchFamily="34" charset="0"/>
                <a:cs typeface="Calibri" pitchFamily="34" charset="-120"/>
              </a:rPr>
              <a:t>Computer Vision System with Parallel Processing</a:t>
            </a:r>
          </a:p>
          <a:p>
            <a:pPr marL="0" indent="0">
              <a:buNone/>
            </a:pP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76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8-camera YOLOv8 pipeline benchmarked across </a:t>
            </a:r>
            <a:r>
              <a:rPr lang="en-US" sz="1600" b="1" dirty="0">
                <a:solidFill>
                  <a:srgbClr val="76B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NVIDIA CUDA</a:t>
            </a:r>
            <a:r>
              <a:rPr lang="en-US" sz="16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and </a:t>
            </a:r>
            <a:r>
              <a:rPr lang="en-US" sz="1600" b="1" dirty="0">
                <a:solidFill>
                  <a:srgbClr val="0A8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Apple Silicon MPS</a:t>
            </a:r>
            <a:r>
              <a:rPr lang="en-US" sz="16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480560"/>
            <a:ext cx="3383280" cy="1188720"/>
          </a:xfrm>
          <a:prstGeom prst="rect">
            <a:avLst/>
          </a:prstGeom>
          <a:solidFill>
            <a:srgbClr val="1A1F2E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5120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DEVICES BENCHMARKED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4480560"/>
            <a:ext cx="3383280" cy="1188720"/>
          </a:xfrm>
          <a:prstGeom prst="rect">
            <a:avLst/>
          </a:prstGeom>
          <a:solidFill>
            <a:srgbClr val="1A1F2E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389120" y="5120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EXPERIMENTS PER DEVICE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4480560"/>
            <a:ext cx="3383280" cy="1188720"/>
          </a:xfrm>
          <a:prstGeom prst="rect">
            <a:avLst/>
          </a:prstGeom>
          <a:solidFill>
            <a:srgbClr val="1A1F2E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~13k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046720" y="5120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FRAMES / DEVICE / RUN</a:t>
            </a:r>
            <a:endParaRPr lang="en-US" sz="10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B50E1DAA-11AA-03AE-00CD-3F15727A584F}"/>
              </a:ext>
            </a:extLst>
          </p:cNvPr>
          <p:cNvSpPr/>
          <p:nvPr/>
        </p:nvSpPr>
        <p:spPr>
          <a:xfrm>
            <a:off x="731520" y="3571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6B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Sahil Chaudhari</a:t>
            </a:r>
            <a:r>
              <a:rPr lang="en-US" sz="16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and </a:t>
            </a:r>
            <a:r>
              <a:rPr lang="en-US" sz="1600" b="1" dirty="0" err="1">
                <a:solidFill>
                  <a:srgbClr val="0A8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Sakshaat</a:t>
            </a:r>
            <a:r>
              <a:rPr lang="en-US" sz="1600" b="1" dirty="0">
                <a:solidFill>
                  <a:srgbClr val="0A8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Raut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  -  PROBLEM &amp; 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CV is a systems problem, not a model problem.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59536"/>
            <a:ext cx="164592" cy="16459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Modern deployments - retail, AV, robotics, sports analytics - feed </a:t>
            </a:r>
            <a:r>
              <a:rPr lang="en-US" sz="150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8+ camera streams </a:t>
            </a:r>
            <a:r>
              <a:rPr lang="en-US" sz="15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through one node, with hard real-time budgets.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single-stream FPS number is misleading. The real cost is in </a:t>
            </a:r>
            <a:r>
              <a:rPr lang="en-US" sz="150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GIL contention, memory copies, batch formation, and accelerator scheduling</a:t>
            </a:r>
            <a:r>
              <a:rPr lang="en-US" sz="15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- all classic computing-systems concerns.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9440" y="1737360"/>
            <a:ext cx="4754880" cy="10972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0" y="1828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concurrent camera streams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49440" y="3017520"/>
            <a:ext cx="4754880" cy="10972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31089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33ms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9144000" y="3108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frame budget @ 30 FPS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4297680"/>
            <a:ext cx="4754880" cy="10972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4389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144000" y="43891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 processes spawned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  -  KEY CHALLENGES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systems problems hiding behind the FPS number.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59536"/>
            <a:ext cx="164592" cy="16459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2121408" cy="36576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2121408" cy="7315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GIL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interpreter can't decode 8 H.264 streams in parallel. Threads serialize on the GIL.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16352" y="1920240"/>
            <a:ext cx="2121408" cy="36576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16352" y="1920240"/>
            <a:ext cx="2121408" cy="73152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214884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999232" y="278892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hierarchy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99232" y="384048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CUDA: PCIe host-&gt;device copy per batch. MPS: unified memory - different cost model entirely.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84064" y="1920240"/>
            <a:ext cx="2121408" cy="36576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84064" y="1920240"/>
            <a:ext cx="2121408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66944" y="214884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266944" y="278892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vs. latency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66944" y="384048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Bigger batches = better GPU utilization, but tail latency grows linearly with batch size.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51776" y="1920240"/>
            <a:ext cx="2121408" cy="36576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51776" y="1920240"/>
            <a:ext cx="2121408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34656" y="214884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534656" y="278892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Amdahl's serial fraction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34656" y="384048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Non-parallel pre/post-processing caps multi-stream scaling, no matter the GPU.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19488" y="1920240"/>
            <a:ext cx="2121408" cy="36576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19488" y="1920240"/>
            <a:ext cx="2121408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02368" y="214884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802368" y="278892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overhead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02368" y="384048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PyTorch eager vs. ONNX vs. FP16 - same model swings 5x on the same silicon.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6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experiment in this study isolates exactly one of these.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  -  SYSTEM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Producer-consumer pipeline with hardware-isolated stages.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59536"/>
            <a:ext cx="164592" cy="16459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1645920" cy="347472"/>
          </a:xfrm>
          <a:prstGeom prst="rect">
            <a:avLst/>
          </a:prstGeom>
          <a:solidFill>
            <a:srgbClr val="141925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 0  -  mp.Process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231136"/>
            <a:ext cx="1645920" cy="347472"/>
          </a:xfrm>
          <a:prstGeom prst="rect">
            <a:avLst/>
          </a:prstGeom>
          <a:solidFill>
            <a:srgbClr val="141925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311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 1  -  mp.Process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679192"/>
            <a:ext cx="1645920" cy="347472"/>
          </a:xfrm>
          <a:prstGeom prst="rect">
            <a:avLst/>
          </a:prstGeom>
          <a:solidFill>
            <a:srgbClr val="141925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791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 2  -  mp.Process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127248"/>
            <a:ext cx="1645920" cy="347472"/>
          </a:xfrm>
          <a:prstGeom prst="rect">
            <a:avLst/>
          </a:prstGeom>
          <a:solidFill>
            <a:srgbClr val="141925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272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 3  -  mp.Process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575304"/>
            <a:ext cx="1645920" cy="347472"/>
          </a:xfrm>
          <a:prstGeom prst="rect">
            <a:avLst/>
          </a:prstGeom>
          <a:solidFill>
            <a:srgbClr val="141925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5753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 4  -  mp.Process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1645920" cy="347472"/>
          </a:xfrm>
          <a:prstGeom prst="rect">
            <a:avLst/>
          </a:prstGeom>
          <a:solidFill>
            <a:srgbClr val="141925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023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 5  -  mp.Process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1645920" cy="347472"/>
          </a:xfrm>
          <a:prstGeom prst="rect">
            <a:avLst/>
          </a:prstGeom>
          <a:solidFill>
            <a:srgbClr val="141925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4714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 6  -  mp.Process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919472"/>
            <a:ext cx="1645920" cy="347472"/>
          </a:xfrm>
          <a:prstGeom prst="rect">
            <a:avLst/>
          </a:prstGeom>
          <a:solidFill>
            <a:srgbClr val="141925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9194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 7  -  mp.Process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OS processes  ·  bypass GIL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0" y="3200400"/>
            <a:ext cx="1280160" cy="1188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320040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mp.Queue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(frames)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0" y="1956816"/>
            <a:ext cx="457200" cy="1837944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2404872"/>
            <a:ext cx="457200" cy="1389888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0" y="2852928"/>
            <a:ext cx="457200" cy="941832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0" y="3300984"/>
            <a:ext cx="457200" cy="493776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749040"/>
            <a:ext cx="457200" cy="45720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2286000" y="3785615"/>
            <a:ext cx="457200" cy="411481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2286000" y="3776472"/>
            <a:ext cx="457200" cy="868680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2286000" y="3785615"/>
            <a:ext cx="457200" cy="1307593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108960"/>
            <a:ext cx="1554480" cy="13716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3108960"/>
            <a:ext cx="1554480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2918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663440" y="4069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 = 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023360" y="3794760"/>
            <a:ext cx="640080" cy="0"/>
          </a:xfrm>
          <a:prstGeom prst="line">
            <a:avLst/>
          </a:prstGeom>
          <a:noFill/>
          <a:ln w="19050">
            <a:solidFill>
              <a:srgbClr val="5C66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0" y="2743200"/>
            <a:ext cx="2286000" cy="18288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0" y="2743200"/>
            <a:ext cx="2286000" cy="7315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Detector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85800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YOLOv8n  -  PyTorch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5800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  /  MPS  /  CPU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5800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6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auto-detect backend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3794760"/>
            <a:ext cx="640080" cy="0"/>
          </a:xfrm>
          <a:prstGeom prst="line">
            <a:avLst/>
          </a:prstGeom>
          <a:noFill/>
          <a:ln w="19050">
            <a:solidFill>
              <a:srgbClr val="5C667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784080" y="1783080"/>
            <a:ext cx="2194560" cy="3291840"/>
          </a:xfrm>
          <a:prstGeom prst="rect">
            <a:avLst/>
          </a:prstGeom>
          <a:solidFill>
            <a:srgbClr val="141925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784080" y="1783080"/>
            <a:ext cx="2194560" cy="73152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9212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 profiler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96696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frame_loading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96696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preprocessing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96696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inference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96696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postprocessing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96696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output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0080" y="5852160"/>
            <a:ext cx="10881360" cy="411480"/>
          </a:xfrm>
          <a:prstGeom prst="rect">
            <a:avLst/>
          </a:prstGeom>
          <a:solidFill>
            <a:srgbClr val="1F1A12"/>
          </a:solidFill>
          <a:ln w="9525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40080" y="5852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 psutil daemon samples CPU / RAM / GPU memory at 1 Hz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  -  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piece looks the way it does.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59536"/>
            <a:ext cx="164592" cy="16459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1155680" cy="749808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73152" cy="74980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56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per camera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multiprocessing.Process, not Thread.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11880" y="189280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OpenCV's C decoder releases the GIL, but Python pre-checks don't. Threads scaled to ~1.7x on 8 streams; processes scale to 7.5x.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33472"/>
            <a:ext cx="11155680" cy="749808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33472"/>
            <a:ext cx="73152" cy="74980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066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mp.Queue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026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size = 2 x num_cameras.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274320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Backpressure: slow consumer drops the oldest frame instead of stalling cameras. Latency stays bounded under load.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83864"/>
            <a:ext cx="11155680" cy="749808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83864"/>
            <a:ext cx="73152" cy="7498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570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inference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8770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configurable batch (1-16), default 4.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11880" y="359359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Amortizes the per-launch kernel cost (~1.5 ms on CUDA). Below batch 4 the GPU is starved; above 8 the latency tail explodes.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34256"/>
            <a:ext cx="11155680" cy="749808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334256"/>
            <a:ext cx="73152" cy="7498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407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auto-select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727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 -&gt; mps -&gt; cpu fallback.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11880" y="4443984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Same code path for three accelerators; backend-specific knobs (FP16 only on CUDA) are gated behind capability checks at startup.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184648"/>
            <a:ext cx="11155680" cy="749808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184648"/>
            <a:ext cx="73152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257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profiler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5577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 per-stage + 1 Hz psutil daemon.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11880" y="5294376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Per-stage isolates pipeline bottlenecks (E4). System-level catches CPU saturation that the per-stage timers can't see.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  -  EXPERIMENTAL 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device classes, seven experiments, one shared codebase.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59536"/>
            <a:ext cx="164592" cy="16459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under test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6492240" cy="268833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B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B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B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B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5060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NVIDIA RTX 5060 Laptop GPU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8.55 GB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CUDA 12.8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4050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NVIDIA RTX 4050 Laptop GPU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6.44 GB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CUDA 11.8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8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Pro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Apple Silicon GPU (MPS)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Unified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Metal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8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Pro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Apple Silicon GPU (MPS)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Unified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Metal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8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Pro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Apple Silicon GPU (MPS)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Unified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Metal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8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Apple Silicon GPU (MPS)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Unified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Metal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7315200" y="17373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suite (E1-E7)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0" y="2148840"/>
            <a:ext cx="4434840" cy="457200"/>
          </a:xfrm>
          <a:prstGeom prst="rect">
            <a:avLst/>
          </a:prstGeom>
          <a:solidFill>
            <a:srgbClr val="141925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38160" y="21488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CPU vs. GPU baseline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0" y="2651760"/>
            <a:ext cx="4434840" cy="457200"/>
          </a:xfrm>
          <a:prstGeom prst="rect">
            <a:avLst/>
          </a:prstGeom>
          <a:solidFill>
            <a:srgbClr val="141925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52360" y="2651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38160" y="26517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Batch-size sweep (1 -&gt; 16)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0" y="3154680"/>
            <a:ext cx="4434840" cy="457200"/>
          </a:xfrm>
          <a:prstGeom prst="rect">
            <a:avLst/>
          </a:prstGeom>
          <a:solidFill>
            <a:srgbClr val="141925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52360" y="3154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38160" y="3154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Multi-stream scaling + Amdahl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0" y="3657600"/>
            <a:ext cx="4434840" cy="457200"/>
          </a:xfrm>
          <a:prstGeom prst="rect">
            <a:avLst/>
          </a:prstGeom>
          <a:solidFill>
            <a:srgbClr val="141925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52360" y="3657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138160" y="36576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Per-stage bottleneck (p50/p95/p99)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315200" y="4160520"/>
            <a:ext cx="4434840" cy="457200"/>
          </a:xfrm>
          <a:prstGeom prst="rect">
            <a:avLst/>
          </a:prstGeom>
          <a:solidFill>
            <a:srgbClr val="141925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52360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138160" y="4160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YOLOv8 model size sweep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315200" y="4663440"/>
            <a:ext cx="4434840" cy="457200"/>
          </a:xfrm>
          <a:prstGeom prst="rect">
            <a:avLst/>
          </a:prstGeom>
          <a:solidFill>
            <a:srgbClr val="141925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52360" y="4663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138160" y="46634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PyTorch FP32 / FP16 / ONNX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315200" y="5166360"/>
            <a:ext cx="4434840" cy="457200"/>
          </a:xfrm>
          <a:prstGeom prst="rect">
            <a:avLst/>
          </a:prstGeom>
          <a:solidFill>
            <a:srgbClr val="141925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52360" y="5166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138160" y="51663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CPU vs. GPU preprocessing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  -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5060 wins both axes; MPS matches FPS but pays in latency.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59536"/>
            <a:ext cx="164592" cy="16459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548640" y="1691640"/>
          <a:ext cx="566928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400800" y="1691640"/>
          <a:ext cx="53492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4267048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Baseline: 8 cameras, YOLOv8n, batch=4, FP32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E1  -  DEVICE SPEEDUP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the accelerator actually buy you?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59536"/>
            <a:ext cx="164592" cy="16459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548640" y="1691640"/>
          <a:ext cx="777240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783080"/>
            <a:ext cx="3246120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03920" y="1783080"/>
            <a:ext cx="3246120" cy="7315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1965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speedup tells us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0" y="2377440"/>
            <a:ext cx="2880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RTX 4050  -  </a:t>
            </a: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over CPU - biggest jump.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RTX 5060  -  </a:t>
            </a: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2.0x</a:t>
            </a: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- capped by its faster Intel i7.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M-series MPS  -  </a:t>
            </a: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2.0-2.9x</a:t>
            </a: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- unified memory closes the gap on weaker CPUs.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Insight: </a:t>
            </a: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speedup depends on the </a:t>
            </a:r>
            <a:r>
              <a:rPr lang="en-US" sz="110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CPU baseline, not just the GPU.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E2  -  BATCH SIZE SWEEP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kernel-launch overhead actually hurts.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59536"/>
            <a:ext cx="164592" cy="16459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548640" y="1691640"/>
          <a:ext cx="777240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783080"/>
            <a:ext cx="3246120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03920" y="1783080"/>
            <a:ext cx="324612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1965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curves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0" y="2377440"/>
            <a:ext cx="2880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CUDA cards are nearly flat - </a:t>
            </a:r>
            <a:r>
              <a:rPr lang="en-US" sz="110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already saturated at batch 1.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M-series MPS sits at ~70-75 FPS regardless of batch - </a:t>
            </a:r>
            <a:r>
              <a:rPr lang="en-US" sz="110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GPU-bound, not batch-bound.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M4 Air is the only one that scales: </a:t>
            </a:r>
            <a:r>
              <a:rPr lang="en-US" sz="11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36 -&gt; 55 FPS (+54%)</a:t>
            </a: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- smaller GPU benefits from kernel-launch amortization.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E3  -  MULTI-STREAM SCALING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Amdahl's Law in practice - who scales, who stalls.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59536"/>
            <a:ext cx="164592" cy="16459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548640" y="1691640"/>
          <a:ext cx="777240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783080"/>
            <a:ext cx="3246120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03920" y="1783080"/>
            <a:ext cx="3246120" cy="73152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1965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Amdahl's Law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0" y="23317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S(N) = 1 / ((1-P) + P/N)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0" y="2788920"/>
            <a:ext cx="2880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1 -&gt; 8 streams speedup: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RTX 5060  </a:t>
            </a:r>
            <a:r>
              <a:rPr lang="en-US" sz="110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6.3x</a:t>
            </a: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(P~0.91)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RTX 4050  </a:t>
            </a:r>
            <a:r>
              <a:rPr lang="en-US" sz="110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6.5x</a:t>
            </a: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(P~0.91)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 Pro    </a:t>
            </a:r>
            <a:r>
              <a:rPr lang="en-US" sz="110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5.1x</a:t>
            </a: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(P~0.88)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 Pro    </a:t>
            </a:r>
            <a:r>
              <a:rPr lang="en-US" sz="110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4.8x</a:t>
            </a: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(P~0.87)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 Air    </a:t>
            </a:r>
            <a:r>
              <a:rPr lang="en-US" sz="110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1.8x</a:t>
            </a:r>
            <a:r>
              <a:rPr lang="en-US" sz="1100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- saturates at 4!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M4 Air can't feed the GPU past 4 streams - preprocessing serializes.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E5  -  MODEL SIZE SWEEP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GPU's headroom really shows up.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59536"/>
            <a:ext cx="164592" cy="16459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548640" y="1691640"/>
          <a:ext cx="777240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783080"/>
            <a:ext cx="3246120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03920" y="1783080"/>
            <a:ext cx="3246120" cy="7315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1965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pulls ahead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0" y="2377440"/>
            <a:ext cx="2880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 nano: </a:t>
            </a:r>
            <a:r>
              <a:rPr lang="en-US" sz="1100" b="1" dirty="0">
                <a:solidFill>
                  <a:srgbClr val="0A8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MPS wins.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 medium (26M params), RTX 5060 sustains </a:t>
            </a: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 FPS</a:t>
            </a: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- 1.65x M4 Pro and 2.2x M3 Pro.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Why: </a:t>
            </a: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tensor cores + dedicated VRAM scale linearly with model FLOPs. MPS shares bandwidth with CPU.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5C51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Takeaway: </a:t>
            </a:r>
            <a:r>
              <a:rPr lang="en-US" sz="110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models &gt;= medium, CUDA is the only architecture that holds 30+ FPS.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E6  -  INFERENCE ENGINE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silicon, three frameworks, 5x swing.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59536"/>
            <a:ext cx="164592" cy="16459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548640" y="1691640"/>
          <a:ext cx="777240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783080"/>
            <a:ext cx="3246120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03920" y="1783080"/>
            <a:ext cx="324612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1965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ONNX cliff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0" y="2377440"/>
            <a:ext cx="2880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PyTorch FP32 ~ FP16 ~ baseline.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MPS gets </a:t>
            </a:r>
            <a:r>
              <a:rPr lang="en-US" sz="1100" b="1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FP16 boost</a:t>
            </a: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- PyTorch's MPS backend silently casts unsupported ops back to FP32.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ONNX Runtime: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CUDA   </a:t>
            </a: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FPS</a:t>
            </a: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(vs 64 PyTorch)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MPS    </a:t>
            </a: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FPS</a:t>
            </a: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(vs 75 PyTorch)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5C51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Lesson: </a:t>
            </a:r>
            <a:r>
              <a:rPr lang="en-US" sz="110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engine choice can dominate hardware choice. Profile before you optimize.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E7  -  GPU PREPROCESSING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optimization that mostly doesn't pay off.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59536"/>
            <a:ext cx="164592" cy="16459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548640" y="1691640"/>
          <a:ext cx="777240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783080"/>
            <a:ext cx="3246120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03920" y="1783080"/>
            <a:ext cx="3246120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1965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almost flat?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0" y="2377440"/>
            <a:ext cx="2880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640x640 resize + normalize is </a:t>
            </a:r>
            <a:r>
              <a:rPr lang="en-US" sz="110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tiny</a:t>
            </a: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(~0.6 ms on CPU).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Moving the input to GPU first adds a </a:t>
            </a:r>
            <a:r>
              <a:rPr lang="en-US" sz="1100" b="1" dirty="0">
                <a:solidFill>
                  <a:srgbClr val="F5C51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host-&gt;device copy</a:t>
            </a: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that nearly cancels the savings.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Only </a:t>
            </a:r>
            <a:r>
              <a:rPr lang="en-US" sz="1100" b="1" dirty="0">
                <a:solidFill>
                  <a:srgbClr val="0A8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M3 Pro</a:t>
            </a: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gains meaningfully on GPU-preproc FP16 (+5%).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  -  KEY INSIGHTS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takeaways the data forced us to update.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59536"/>
            <a:ext cx="164592" cy="16459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3657600" cy="219456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73152" cy="21945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" y="24048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!= 1/Throughput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9260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M4 Pro and RTX 5060 hit nearly identical FPS, but the RTX has 12x lower per-frame latency. Choose by SLO, not by FPS alone.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657600" cy="219456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783080"/>
            <a:ext cx="73152" cy="2194560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44568" y="24048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architecture is the divide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44568" y="29260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Unified memory (MPS) wins on small models. Dedicated VRAM (CUDA) wins as model size grows past 26M params.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657600" cy="219456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783080"/>
            <a:ext cx="73152" cy="2194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39328" y="24048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 shows the system, not silicon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39328" y="29260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RTX 4050 + RTX 5060 both reach P ~ 0.91. M4 Air pegs at P ~ 0.5 - the pipeline, not the GPU, is the bottleneck there.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3657600" cy="219456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14800"/>
            <a:ext cx="73152" cy="2194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9808" y="47365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can dominate hardware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5257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ONNX Runtime cuts CUDA from 64 -&gt; 12 FPS. Switching frameworks costs more than upgrading the GPU.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4114800"/>
            <a:ext cx="3657600" cy="219456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3400" y="4114800"/>
            <a:ext cx="73152" cy="21945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44568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44568" y="47365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is GPU-class dependent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44568" y="5257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CUDA cards saturate at batch 1. M4 Air gains 54% from batch 16. The right batch is the smallest one that keeps the GPU fed.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4114800"/>
            <a:ext cx="3657600" cy="219456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4114800"/>
            <a:ext cx="73152" cy="21945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339328" y="47365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before you optimize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39328" y="5257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GPU preprocessing - the 'obvious' win - was net-neutral or negative on 5 of 6 devices. Per-stage profiling caught it.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  -  TRADEOFFS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each platform actually wins.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59536"/>
            <a:ext cx="164592" cy="16459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703320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3703320" cy="4114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5060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when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Latency-bound apps (AV, robotics)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Heavy models (m / l / x)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Future-proof headroom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Higher power draw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Discrete GPU = extra cost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Driver / CUDA version friction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0832" y="1691640"/>
            <a:ext cx="3703320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1691640"/>
            <a:ext cx="3703320" cy="411480"/>
          </a:xfrm>
          <a:prstGeom prst="rect">
            <a:avLst/>
          </a:prstGeom>
          <a:solidFill>
            <a:srgbClr val="9ACD32"/>
          </a:solidFill>
          <a:ln w="12700">
            <a:solidFill>
              <a:srgbClr val="9AC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16916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4050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53712" y="2240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when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53712" y="256032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$/FPS in this study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3.6x CPU speedup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Stable CUDA 11.8 toolchain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53712" y="41148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53712" y="4434840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Only 6.4 GB VRAM (OOM on x)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Same latency tail as 5060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Saturates faster on big models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93024" y="1691640"/>
            <a:ext cx="3703320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3024" y="1691640"/>
            <a:ext cx="3703320" cy="411480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3024" y="16916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MPS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75904" y="2240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when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75904" y="256032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discrete GPU needed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Unified memory wins on small models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Quiet, low power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75904" y="41148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75904" y="4434840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10-15x higher per-frame latency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FP16 doesn't actually run in FP16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Bigger models collapse fast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09  -  FUTURE WORK &amp;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systems story goes next.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59536"/>
            <a:ext cx="164592" cy="16459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5669280" cy="42976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73152" cy="4297680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532888"/>
            <a:ext cx="164592" cy="1645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4231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 engine for CUDA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7157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ONNX Runtime is the wrong CUDA backend. TRT INT8 should hit 200+ FPS on the 5060.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3246120"/>
            <a:ext cx="164592" cy="1645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1363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CoreML / Metal compute shaders for MPS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429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Skip PyTorch's MPS layer; target Apple's native graph for the latency win.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959352"/>
            <a:ext cx="164592" cy="1645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8496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multi-host pipeline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1422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Coordinator already streams runs to SQLite - extend it to a true sharded inference cluster.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4672584"/>
            <a:ext cx="164592" cy="1645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5628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Energy-per-frame measurement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85546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FPS-per-watt is the missing dimension. Add nvidia-smi telemetry + Apple powermetrics.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5385816"/>
            <a:ext cx="164592" cy="1645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52760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batch / stream controller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56869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Close the loop on Amdahl: scale batch + stream count based on observed CPU saturation.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46520" y="1783080"/>
            <a:ext cx="5349240" cy="42976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1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1783080"/>
            <a:ext cx="73152" cy="42976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19659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75120" y="2423160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There is no single 'best' accelerator - there's a </a:t>
            </a:r>
            <a:r>
              <a:rPr lang="en-US" sz="130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workload-accelerator pair.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6B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RTX 5060</a:t>
            </a:r>
            <a:r>
              <a:rPr lang="en-US" sz="13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is the right pick when </a:t>
            </a:r>
            <a:r>
              <a:rPr lang="en-US" sz="130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tail latency</a:t>
            </a:r>
            <a:r>
              <a:rPr lang="en-US" sz="13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or </a:t>
            </a:r>
            <a:r>
              <a:rPr lang="en-US" sz="130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large models</a:t>
            </a:r>
            <a:r>
              <a:rPr lang="en-US" sz="13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matter.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8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Apple MPS</a:t>
            </a:r>
            <a:r>
              <a:rPr lang="en-US" sz="13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is competitive on throughput for </a:t>
            </a:r>
            <a:r>
              <a:rPr lang="en-US" sz="130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small-model, batch-tolerant workloads</a:t>
            </a:r>
            <a:r>
              <a:rPr lang="en-US" sz="13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- but never for latency-critical ones.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biggest wins came from </a:t>
            </a:r>
            <a:r>
              <a:rPr lang="en-US" sz="130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systems engineering </a:t>
            </a:r>
            <a:r>
              <a:rPr lang="en-US" sz="13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(GIL bypass, batching, profile-driven optimization) - not from picking the fastest chip.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400" dirty="0"/>
          </a:p>
        </p:txBody>
      </p:sp>
      <p:sp>
        <p:nvSpPr>
          <p:cNvPr id="13" name="Text 11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1790</Words>
  <Application>Microsoft Macintosh PowerPoint</Application>
  <PresentationFormat>Widescreen</PresentationFormat>
  <Paragraphs>308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Multi-Camera GPU-Accelerated CV - Systems Study</dc:title>
  <dc:subject>PptxGenJS Presentation</dc:subject>
  <dc:creator>Dhairya Satra</dc:creator>
  <cp:lastModifiedBy>sahil chaudhari</cp:lastModifiedBy>
  <cp:revision>6</cp:revision>
  <dcterms:created xsi:type="dcterms:W3CDTF">2026-05-12T02:35:03Z</dcterms:created>
  <dcterms:modified xsi:type="dcterms:W3CDTF">2026-05-12T03:20:48Z</dcterms:modified>
</cp:coreProperties>
</file>